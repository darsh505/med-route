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731520"/>
            <a:ext cx="402336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4338CA"/>
                </a:solidFill>
                <a:latin typeface="Segoe UI"/>
              </a:defRPr>
            </a:pPr>
            <a:r>
              <a:t>CRITICAL HEALTHCARE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852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152D47"/>
                </a:solidFill>
                <a:latin typeface="Georgia"/>
              </a:defRPr>
            </a:pPr>
            <a:r>
              <a:t>MedRoute</a:t>
            </a:r>
          </a:p>
          <a:p>
            <a:pPr>
              <a:defRPr sz="2000" b="1">
                <a:solidFill>
                  <a:srgbClr val="1D4ED8"/>
                </a:solidFill>
                <a:latin typeface="Georgia"/>
              </a:defRPr>
            </a:pPr>
            <a:r>
              <a:t>Intelligent Emergency Triage &amp; Cashless Hospital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Transforming emergency admission chaos into deterministic sub-second hospital routing. Synchronizing live ICU bed telemetry, PMJAY government tariffs, and dual-layer AI failover for zero-friction admissions.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7830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156362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D4ED8"/>
                </a:solidFill>
                <a:latin typeface="Georgia"/>
              </a:defRPr>
            </a:pPr>
            <a:r>
              <a:t>1,451+</a:t>
            </a:r>
          </a:p>
          <a:p>
            <a:pPr>
              <a:defRPr sz="1100" b="1">
                <a:solidFill>
                  <a:srgbClr val="152D47"/>
                </a:solidFill>
                <a:latin typeface="Segoe UI"/>
              </a:defRPr>
            </a:pPr>
            <a:r>
              <a:t>Verified Hospitals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Punjab &amp; North India Network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4343400"/>
            <a:ext cx="17830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4434840"/>
            <a:ext cx="156362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6A34A"/>
                </a:solidFill>
                <a:latin typeface="Georgia"/>
              </a:defRPr>
            </a:pPr>
            <a:r>
              <a:t>&lt; 5 ms</a:t>
            </a:r>
          </a:p>
          <a:p>
            <a:pPr>
              <a:defRPr sz="1100" b="1">
                <a:solidFill>
                  <a:srgbClr val="152D47"/>
                </a:solidFill>
                <a:latin typeface="Segoe UI"/>
              </a:defRPr>
            </a:pPr>
            <a:r>
              <a:t>Clinical Triage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Deterministic Rule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4343400"/>
            <a:ext cx="17830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4434840"/>
            <a:ext cx="156362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A580C"/>
                </a:solidFill>
                <a:latin typeface="Georgia"/>
              </a:defRPr>
            </a:pPr>
            <a:r>
              <a:t>100%</a:t>
            </a:r>
          </a:p>
          <a:p>
            <a:pPr>
              <a:defRPr sz="1100" b="1">
                <a:solidFill>
                  <a:srgbClr val="152D47"/>
                </a:solidFill>
                <a:latin typeface="Segoe UI"/>
              </a:defRPr>
            </a:pPr>
            <a:r>
              <a:t>Zero-Crash Resilience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Dual-Key Failover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Built by Keshav &amp; Team  |  Production Architecture &amp; Engineering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32918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4338CA"/>
                </a:solidFill>
                <a:latin typeface="Segoe UI"/>
              </a:defRPr>
            </a:pPr>
            <a:r>
              <a:t>CRITICAL HEALTHCARE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Eliminating the 3 Fatal Golden-Hour Delays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475569"/>
                </a:solidFill>
                <a:latin typeface="Segoe UI"/>
              </a:defRPr>
            </a:pPr>
            <a:r>
              <a:t>Bridging the deadly information gap between patients, ambulances, and emergency departments.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035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47671"/>
            <a:ext cx="73152" cy="11338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84247"/>
            <a:ext cx="566928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52D47"/>
                </a:solidFill>
                <a:latin typeface="Segoe UI"/>
              </a:defRPr>
            </a:pPr>
            <a:r>
              <a:t>1. Zero Bed Visibility  ➔  Live ICU Bed Telemetry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Eliminates 20–30 min desperate phone calls while patient deteriorates. MedRoute streams live ICU, oxygen, and ventilator telemetry synchronized across 1,451+ network hospitals.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59"/>
            <a:ext cx="6035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410711"/>
            <a:ext cx="73152" cy="113385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47287"/>
            <a:ext cx="566928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52D47"/>
                </a:solidFill>
                <a:latin typeface="Segoe UI"/>
              </a:defRPr>
            </a:pPr>
            <a:r>
              <a:t>2. Cashless Admission Gridlock  ➔  Instant PMJAY Intake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Replaces 4–6 hour insurance delays and upfront cash deposit demands with direct Ayushman Bharat package lookup, government tariff capping, and instant pre-empanelment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599"/>
            <a:ext cx="6035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873751"/>
            <a:ext cx="73152" cy="113385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910327"/>
            <a:ext cx="566928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52D47"/>
                </a:solidFill>
                <a:latin typeface="Segoe UI"/>
              </a:defRPr>
            </a:pPr>
            <a:r>
              <a:t>3. Blind Emergency Travel  ➔  1-Tap Geodesic SOS Dispatch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Stops ambulances from arriving at clinics lacking emergency trauma surgeons. MedRoute calculates road distance and clinical condition to route directly to the nearest capable NABH facility.</a:t>
            </a:r>
          </a:p>
        </p:txBody>
      </p:sp>
      <p:pic>
        <p:nvPicPr>
          <p:cNvPr id="15" name="Picture 14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74519"/>
            <a:ext cx="4389120" cy="29260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040880" y="1874519"/>
            <a:ext cx="4389120" cy="29260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0" y="4937760"/>
            <a:ext cx="43891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5029200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D4ED8"/>
                </a:solidFill>
                <a:latin typeface="Segoe UI"/>
              </a:defRPr>
            </a:pPr>
            <a:r>
              <a:t>● LIVE SYSTEM TELEMETRY</a:t>
            </a:r>
          </a:p>
          <a:p>
            <a:pPr>
              <a:defRPr sz="1100">
                <a:solidFill>
                  <a:srgbClr val="152D47"/>
                </a:solidFill>
                <a:latin typeface="Segoe UI"/>
              </a:defRPr>
            </a:pPr>
            <a:r>
              <a:t>• 1,451 Verified Hospitals Active in Geodesic Index</a:t>
            </a:r>
            <a:br/>
            <a:r>
              <a:t>• Sub-5ms Decision Latency on Emergency SOS Triage</a:t>
            </a:r>
            <a:br/>
            <a:r>
              <a:t>• Direct PMJAY Ayushman Bharat Tariff Sync</a:t>
            </a:r>
            <a:br/>
            <a:r>
              <a:t>• Zero Manual Calls Required for Triage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32918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4338CA"/>
                </a:solidFill>
                <a:latin typeface="Segoe UI"/>
              </a:defRPr>
            </a:pPr>
            <a:r>
              <a:t>ENTERPRISE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Resilient 3-Tier Distributed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475569"/>
                </a:solidFill>
                <a:latin typeface="Segoe UI"/>
              </a:defRPr>
            </a:pPr>
            <a:r>
              <a:t>Asynchronous event-driven core with dual-layer AI failover and 100% offline demo resilience.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TIER 1: CLIENT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99923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◆ React Native Mobile App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Expo SDK 52, TypeScript, Geolocation, City Selector, Offline-tolerant state.</a:t>
            </a:r>
            <a:br/>
          </a:p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◆ USB Reverse Port Bridge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adb reverse tcp:8000 for 0ms wired stage demo connection without Wi-Fi.</a:t>
            </a:r>
            <a:br/>
          </a:p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◆ Next.js 15 Web Portal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React 19 SSR, Hospital Telemetry Dashboard &amp; Public Hospital Comparison.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Segoe UI"/>
              </a:defRPr>
            </a:pPr>
            <a:r>
              <a:t>🏷 Expo SDK 52  |  Next.js 15  |  ADB 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74519"/>
            <a:ext cx="3364992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01168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TIER 2: ASYNC CORE &amp;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423160"/>
            <a:ext cx="299923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◆ FastAPI Async Core (Python 3.14)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Non-blocking ASGI loop, Pydantic v2 validation, Haversine geodesic routing.</a:t>
            </a:r>
            <a:br/>
          </a:p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◆ Dual Gemini 3.6 Flash Pool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Dynamic multi-key rotation on 429 quota exhaustion; strict JSON output.</a:t>
            </a:r>
            <a:br/>
          </a:p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◆ Sub-5ms Clinical Heuristic Engine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Zero-crash offline clinical rule engine for acute trauma, cardiac &amp; fever.</a:t>
            </a:r>
            <a:br/>
          </a:p>
        </p:txBody>
      </p:sp>
      <p:sp>
        <p:nvSpPr>
          <p:cNvPr id="13" name="TextBox 12"/>
          <p:cNvSpPr txBox="1"/>
          <p:nvPr/>
        </p:nvSpPr>
        <p:spPr>
          <a:xfrm>
            <a:off x="4599432" y="544068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A34A"/>
                </a:solidFill>
                <a:latin typeface="Segoe UI"/>
              </a:defRPr>
            </a:pPr>
            <a:r>
              <a:t>🏷 FastAPI Async  |  Gemini 3.6 Flash  |  Clinical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364992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01168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TIER 3: DATA &amp; SCHEME FABRIC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423160"/>
            <a:ext cx="299923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◆ PostgreSQL + PostGIS Database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Spatial index for high-density geographic queries and live hospital schema.</a:t>
            </a:r>
            <a:br/>
          </a:p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◆ In-Memory 1,451 Facility Cache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Instant zero-dependency fallback store; guarantees app never crashes on stage.</a:t>
            </a:r>
            <a:br/>
          </a:p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◆ PMJAY Ayushman Bharat Tariffs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Government capped procedure pricing, eligibility rules, and cashless verification.</a:t>
            </a:r>
            <a:br/>
          </a:p>
        </p:txBody>
      </p:sp>
      <p:sp>
        <p:nvSpPr>
          <p:cNvPr id="17" name="TextBox 16"/>
          <p:cNvSpPr txBox="1"/>
          <p:nvPr/>
        </p:nvSpPr>
        <p:spPr>
          <a:xfrm>
            <a:off x="8284464" y="5440680"/>
            <a:ext cx="29992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A580C"/>
                </a:solidFill>
                <a:latin typeface="Segoe UI"/>
              </a:defRPr>
            </a:pPr>
            <a:r>
              <a:t>🏷 PostGIS Spatial  |  1,451 Node Cache  |  PMJAY Tariffs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03504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10819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⚡ Zero Single-Point-of-Failure: If external cloud or DB drops, in-memory spatial index and clinical rules take over in &lt;2ms with zero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32918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4338CA"/>
                </a:solidFill>
                <a:latin typeface="Segoe UI"/>
              </a:defRPr>
            </a:pPr>
            <a:r>
              <a:t>PRODUCTION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Modern, High-Concurrency Engineering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475569"/>
                </a:solidFill>
                <a:latin typeface="Segoe UI"/>
              </a:defRPr>
            </a:pPr>
            <a:r>
              <a:t>Battle-tested technologies selected for sub-second latency and zero stage downtime.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688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AI &amp; Clinical 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1945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Gemini 3.6 Flash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Generative AI Clinical Triage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Multi-Key Pool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Automatic 429 Failover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JSON Mode Schema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Pydantic Clinical Output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Clinical Rule Engine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Sub-5ms Fallback Triage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City Context Injection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Dynamic Geo Constraints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4688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0116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Backend &amp;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23160"/>
            <a:ext cx="21945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FastAPI (Python 3.14)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High-Throughput ASGI Core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Pydantic v2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Sub-millisecond Validation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Haversine Geodesic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Real-Time Spatial Routing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Uvicorn Server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Async Event-Loop Worker Pool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Health Pings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Live /api/health Monitoring</a:t>
            </a:r>
            <a:br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24688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Cross-Platform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3160"/>
            <a:ext cx="21945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React Native Expo 52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Universal Mobile App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TypeScript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100% Strict Client Type Safety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Next.js 15 (React 19)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SSR Hospital Dashboard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Tailwind CSS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Clean Hospital Design Tokens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AsyncStorage Sync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In-App Backend Switching</a:t>
            </a:r>
            <a:br/>
          </a:p>
        </p:txBody>
      </p:sp>
      <p:sp>
        <p:nvSpPr>
          <p:cNvPr id="15" name="Rounded Rectangle 14"/>
          <p:cNvSpPr/>
          <p:nvPr/>
        </p:nvSpPr>
        <p:spPr>
          <a:xfrm>
            <a:off x="8961120" y="1874519"/>
            <a:ext cx="24688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116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Segoe UI"/>
              </a:defRPr>
            </a:pPr>
            <a:r>
              <a:t>Data &amp; Offline Resilience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423160"/>
            <a:ext cx="21945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PostgreSQL + PostGIS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Geospatial Indexing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In-Memory Store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1,451 Node Demo Cache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PMJAY Tariff DB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Government Price Engine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ADB USB Tunneling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Zero-Latency Demo Bridge</a:t>
            </a:r>
            <a:br/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✔  Zero-Crash Core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Graceful Degradation Engine</a:t>
            </a:r>
            <a:br/>
          </a:p>
        </p:txBody>
      </p:sp>
      <p:sp>
        <p:nvSpPr>
          <p:cNvPr id="18" name="Rounded Rectangle 17"/>
          <p:cNvSpPr/>
          <p:nvPr/>
        </p:nvSpPr>
        <p:spPr>
          <a:xfrm>
            <a:off x="731520" y="603504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10819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★ Benchmark Performance: Hospital spatial lookups execute in under 12ms. Chatbot failover handles up to 100+ requests/min.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32918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4338CA"/>
                </a:solidFill>
                <a:latin typeface="Segoe UI"/>
              </a:defRPr>
            </a:pPr>
            <a:r>
              <a:t>LIVE PRODUCT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End-to-End Emergency &amp; Cashless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475569"/>
                </a:solidFill>
                <a:latin typeface="Segoe UI"/>
              </a:defRPr>
            </a:pPr>
            <a:r>
              <a:t>4 integrated core engines delivering life-saving triage and financial transparency.</a:t>
            </a:r>
          </a:p>
        </p:txBody>
      </p:sp>
      <p:pic>
        <p:nvPicPr>
          <p:cNvPr id="6" name="Picture 5" descr="image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3657600" cy="2057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874519"/>
            <a:ext cx="3657600" cy="20574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902148917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69080"/>
            <a:ext cx="2377440" cy="2423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71600" y="4069080"/>
            <a:ext cx="2377440" cy="242316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874519"/>
            <a:ext cx="6766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947671"/>
            <a:ext cx="73152" cy="90525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59"/>
            <a:ext cx="63093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52D47"/>
                </a:solidFill>
                <a:latin typeface="Segoe UI"/>
              </a:defRPr>
            </a:pPr>
            <a:r>
              <a:t>1. One-Tap Emergency SOS Dispatch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Instantly pinpoints nearest NABH trauma-ready hospital within seconds. Evaluates live ICU bed count, ventilator status, and calculated road distance without manual phone calls.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063239"/>
            <a:ext cx="6766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3136391"/>
            <a:ext cx="73152" cy="9052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154679"/>
            <a:ext cx="63093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52D47"/>
                </a:solidFill>
                <a:latin typeface="Segoe UI"/>
              </a:defRPr>
            </a:pPr>
            <a:r>
              <a:t>2. Context-Aware Clinical AI Chatbot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City-synchronized triage (e.g. Jalandhar). Evaluates patient symptoms, calculates emergency severity index, and directs to specialized facilities with dual-key failover.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251959"/>
            <a:ext cx="6766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4325111"/>
            <a:ext cx="73152" cy="90525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343399"/>
            <a:ext cx="63093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52D47"/>
                </a:solidFill>
                <a:latin typeface="Segoe UI"/>
              </a:defRPr>
            </a:pPr>
            <a:r>
              <a:t>3. Smart Multi-Hospital Comparison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Side-by-side comparison of hospital accreditations (NABH, JCI), surgical capabilities (Robotic, Trauma), ICU bed availability, and real patient outcome metrics.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5440679"/>
            <a:ext cx="6766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5513831"/>
            <a:ext cx="73152" cy="9052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5532119"/>
            <a:ext cx="63093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52D47"/>
                </a:solidFill>
                <a:latin typeface="Segoe UI"/>
              </a:defRPr>
            </a:pPr>
            <a:r>
              <a:t>4. PMJAY &amp; Cashless Tariff Explorer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Full transparency into Ayushman Bharat government health scheme packages, pre-authorization protocols, and 0-deposit admission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3840480" cy="32918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4338CA"/>
                </a:solidFill>
                <a:latin typeface="Segoe UI"/>
              </a:defRPr>
            </a:pPr>
            <a:r>
              <a:t>PROVEN IMPACT &amp; 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52D47"/>
                </a:solidFill>
                <a:latin typeface="Georgia"/>
              </a:defRPr>
            </a:pPr>
            <a:r>
              <a:t>Production Performance &amp; Scaling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475569"/>
                </a:solidFill>
                <a:latin typeface="Segoe UI"/>
              </a:defRPr>
            </a:pPr>
            <a:r>
              <a:t>Delivering immediate clinical value while building towards unified national health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4688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D4ED8"/>
                </a:solidFill>
                <a:latin typeface="Georgia"/>
              </a:defRPr>
            </a:pPr>
            <a:r>
              <a:t>1,451+</a:t>
            </a:r>
          </a:p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Hospitals Mapped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Verified Punjab &amp; North India network with NABH accreditations.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74519"/>
            <a:ext cx="24688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96596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6A34A"/>
                </a:solidFill>
                <a:latin typeface="Georgia"/>
              </a:defRPr>
            </a:pPr>
            <a:r>
              <a:t>&lt; 5 ms</a:t>
            </a:r>
          </a:p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Rule Engine Latency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Deterministic offline triage when external network is unavailable.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24688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EA580C"/>
                </a:solidFill>
                <a:latin typeface="Georgia"/>
              </a:defRPr>
            </a:pPr>
            <a:r>
              <a:t>100%</a:t>
            </a:r>
          </a:p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Zero-Crash Rate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Multi-key Gemini rotation + in-memory spatial failover cache.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74519"/>
            <a:ext cx="24688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96596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7C3AED"/>
                </a:solidFill>
                <a:latin typeface="Georgia"/>
              </a:defRPr>
            </a:pPr>
            <a:r>
              <a:t>0 ₹</a:t>
            </a:r>
          </a:p>
          <a:p>
            <a:pPr>
              <a:defRPr sz="1200" b="1">
                <a:solidFill>
                  <a:srgbClr val="152D47"/>
                </a:solidFill>
                <a:latin typeface="Segoe UI"/>
              </a:defRPr>
            </a:pPr>
            <a:r>
              <a:t>Upfront Cash Deposit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Full PMJAY / Ayushman Bharat cashless transparency at intake.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67665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11880"/>
            <a:ext cx="6309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t>STRATEGIC 3-PHASE ROADMAP</a:t>
            </a:r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◆ Phase 1 (Current Production)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Live Geodesic Triage, Dual-Key Gemini 3.6 Flash, React Native Mobile &amp; Next.js Portal.</a:t>
            </a:r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◆ Phase 2 (Q3 National Scale)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ABHA (Ayushman Bharat Health Account) ID integration &amp; Hospital EHR/FHIR standard connectors.</a:t>
            </a:r>
          </a:p>
          <a:p>
            <a:pPr>
              <a:defRPr sz="1150" b="1">
                <a:solidFill>
                  <a:srgbClr val="152D47"/>
                </a:solidFill>
                <a:latin typeface="Segoe UI"/>
              </a:defRPr>
            </a:pPr>
            <a:r>
              <a:t>◆ Phase 3 (Q4 Autonomous Dispatch)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Live Ambulance GPS Telemetry, IoT Bed Sensors &amp; Automated Smart Contract Pre-Auth.</a:t>
            </a:r>
          </a:p>
        </p:txBody>
      </p:sp>
      <p:pic>
        <p:nvPicPr>
          <p:cNvPr id="16" name="Picture 15" descr="image2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520440"/>
            <a:ext cx="3657600" cy="29260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772400" y="3520440"/>
            <a:ext cx="3657600" cy="29260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