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12280" y="0"/>
            <a:ext cx="182880" cy="6858000"/>
          </a:xfrm>
          <a:prstGeom prst="rect">
            <a:avLst/>
          </a:prstGeom>
          <a:solidFill>
            <a:srgbClr val="0B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3474720" cy="347472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CRITICAL HEALTHCARE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943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MedRoute</a:t>
            </a:r>
          </a:p>
          <a:p>
            <a:pPr>
              <a:defRPr sz="1800" b="1">
                <a:solidFill>
                  <a:srgbClr val="00D2FF"/>
                </a:solidFill>
                <a:latin typeface="Arial"/>
              </a:defRPr>
            </a:pPr>
            <a:r>
              <a:t>Next-Gen Emergency Triage &amp; Cashless Hospital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5760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5B9D2"/>
                </a:solidFill>
                <a:latin typeface="Arial"/>
              </a:defRPr>
            </a:pPr>
            <a:r>
              <a:t>Transforming emergency admission chaos into deterministic sub-second hospital routing. Synchronizing live ICU bed telemetry, PMJAY government tariffs, and dual-layer AI failover for zero-friction admissions.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783080" cy="128016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389120"/>
            <a:ext cx="156362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D2FF"/>
                </a:solidFill>
                <a:latin typeface="Arial"/>
              </a:defRPr>
            </a:pPr>
            <a:r>
              <a:t>1,451+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Verified Hospitals</a:t>
            </a:r>
          </a:p>
          <a:p>
            <a:pPr>
              <a:defRPr sz="800">
                <a:solidFill>
                  <a:srgbClr val="A5B9D2"/>
                </a:solidFill>
                <a:latin typeface="Arial"/>
              </a:defRPr>
            </a:pPr>
            <a:r>
              <a:t>Punjab &amp; North India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4297680"/>
            <a:ext cx="1783080" cy="128016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4389120"/>
            <a:ext cx="156362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E599"/>
                </a:solidFill>
                <a:latin typeface="Arial"/>
              </a:defRPr>
            </a:pPr>
            <a:r>
              <a:t>&lt; 5 ms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Clinical Triage</a:t>
            </a:r>
          </a:p>
          <a:p>
            <a:pPr>
              <a:defRPr sz="800">
                <a:solidFill>
                  <a:srgbClr val="A5B9D2"/>
                </a:solidFill>
                <a:latin typeface="Arial"/>
              </a:defRPr>
            </a:pPr>
            <a:r>
              <a:t>Deterministic Rule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297680"/>
            <a:ext cx="1783080" cy="128016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4389120"/>
            <a:ext cx="156362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B300"/>
                </a:solidFill>
                <a:latin typeface="Arial"/>
              </a:defRPr>
            </a:pPr>
            <a:r>
              <a:t>100%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Zero-Crash Resilience</a:t>
            </a:r>
          </a:p>
          <a:p>
            <a:pPr>
              <a:defRPr sz="800">
                <a:solidFill>
                  <a:srgbClr val="A5B9D2"/>
                </a:solidFill>
                <a:latin typeface="Arial"/>
              </a:defRPr>
            </a:pPr>
            <a:r>
              <a:t>Dual-Key Pool &amp; Offline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A5B9D2"/>
                </a:solidFill>
                <a:latin typeface="Arial"/>
              </a:defRPr>
            </a:pPr>
            <a:r>
              <a:t>Built by Keshav &amp; Team  |  Production Architecture &amp; Engineering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474720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CRITICAL HEALTHCARE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Eliminating the 3 Fatal Golden-Hour Delays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A5B9D2"/>
                </a:solidFill>
                <a:latin typeface="Arial"/>
              </a:defRPr>
            </a:pPr>
            <a:r>
              <a:t>Bridging the deadly information gap between patients, ambulances, and emergency departments.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035040" cy="137160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566928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5A5F"/>
                </a:solidFill>
                <a:latin typeface="Arial"/>
              </a:defRPr>
            </a:pPr>
            <a:r>
              <a:t>01. Zero Bed Visibility</a:t>
            </a:r>
          </a:p>
          <a:p>
            <a:pPr>
              <a:defRPr sz="950">
                <a:solidFill>
                  <a:srgbClr val="FF8C8C"/>
                </a:solidFill>
                <a:latin typeface="Arial"/>
              </a:defRPr>
            </a:pPr>
            <a:r>
              <a:t>✖  Status Quo: Families make 15-30 desperate phone calls while patient deteriorates.</a:t>
            </a:r>
          </a:p>
          <a:p>
            <a:pPr>
              <a:defRPr sz="1000" b="1">
                <a:solidFill>
                  <a:srgbClr val="A0FFC8"/>
                </a:solidFill>
                <a:latin typeface="Arial"/>
              </a:defRPr>
            </a:pPr>
            <a:r>
              <a:t>✔  MedRoute: Live multi-facility ICU, oxygen, and ventilator telemetry updated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6035040" cy="137160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47288"/>
            <a:ext cx="566928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300"/>
                </a:solidFill>
                <a:latin typeface="Arial"/>
              </a:defRPr>
            </a:pPr>
            <a:r>
              <a:t>02. Cashless Admission Gridlock</a:t>
            </a:r>
          </a:p>
          <a:p>
            <a:pPr>
              <a:defRPr sz="950">
                <a:solidFill>
                  <a:srgbClr val="FF8C8C"/>
                </a:solidFill>
                <a:latin typeface="Arial"/>
              </a:defRPr>
            </a:pPr>
            <a:r>
              <a:t>✖  Status Quo: Upfront cash deposits demanded at desk; insurance pre-auth takes 4-6 hours.</a:t>
            </a:r>
          </a:p>
          <a:p>
            <a:pPr>
              <a:defRPr sz="1000" b="1">
                <a:solidFill>
                  <a:srgbClr val="A0FFC8"/>
                </a:solidFill>
                <a:latin typeface="Arial"/>
              </a:defRPr>
            </a:pPr>
            <a:r>
              <a:t>✔  MedRoute: Direct PMJAY tariff explorer &amp; pre-empanelment verification for instant intake.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6035040" cy="137160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01768"/>
            <a:ext cx="566928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E599"/>
                </a:solidFill>
                <a:latin typeface="Arial"/>
              </a:defRPr>
            </a:pPr>
            <a:r>
              <a:t>03. Blind Emergency Routing</a:t>
            </a:r>
          </a:p>
          <a:p>
            <a:pPr>
              <a:defRPr sz="950">
                <a:solidFill>
                  <a:srgbClr val="FF8C8C"/>
                </a:solidFill>
                <a:latin typeface="Arial"/>
              </a:defRPr>
            </a:pPr>
            <a:r>
              <a:t>✖  Status Quo: Ambulances drive blindly to nearby clinics lacking emergency trauma surgeons.</a:t>
            </a:r>
          </a:p>
          <a:p>
            <a:pPr>
              <a:defRPr sz="1000" b="1">
                <a:solidFill>
                  <a:srgbClr val="A0FFC8"/>
                </a:solidFill>
                <a:latin typeface="Arial"/>
              </a:defRPr>
            </a:pPr>
            <a:r>
              <a:t>✔  MedRoute: 1-Tap SOS routing matching patient condition to closest capable NABH facility.</a:t>
            </a:r>
          </a:p>
        </p:txBody>
      </p:sp>
      <p:pic>
        <p:nvPicPr>
          <p:cNvPr id="12" name="Picture 11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83080"/>
            <a:ext cx="4389120" cy="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40880" y="1783080"/>
            <a:ext cx="4389120" cy="3017520"/>
          </a:xfrm>
          <a:prstGeom prst="rect">
            <a:avLst/>
          </a:prstGeom>
          <a:noFill/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40880" y="4937760"/>
            <a:ext cx="4389120" cy="132588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5029200"/>
            <a:ext cx="40233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Arial"/>
              </a:defRPr>
            </a:pPr>
            <a:r>
              <a:t>● LIVE SYSTEM TELEMETRY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• 1,451 Hospitals Active in Geodesic Index</a:t>
            </a:r>
            <a:br/>
            <a:r>
              <a:t>• Sub-5ms Decision Latency on Emergency SOS</a:t>
            </a:r>
            <a:br/>
            <a:r>
              <a:t>• Direct PMJAY Ayushman Bharat Tariff Sync</a:t>
            </a:r>
            <a:br/>
            <a:r>
              <a:t>• Zero Manual Calls Required for Triage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474720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ENTERPRISE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Resilient 3-Tier Distributed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A5B9D2"/>
                </a:solidFill>
                <a:latin typeface="Arial"/>
              </a:defRPr>
            </a:pPr>
            <a:r>
              <a:t>Engineered for deterministic sub-second triage, zero-crash failover, and high concurrent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411480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2999232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TIER 1: CROSS-PLATFORM CLIENT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99232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◆ React Native Mobile App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Expo SDK 52, TypeScript, Geolocation, City Selector, Offline-tolerant state.</a:t>
            </a:r>
            <a:br/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◆ USB Reverse Port Tunneling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adb reverse tcp:8000 tcp:8000 for 0ms wired stage demo connection.</a:t>
            </a:r>
            <a:br/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◆ Next.js 15 Web Portal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React 19 SSR, Hospital Telemetry Dashboard, Public Hospital Comparison.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00D2FF"/>
                </a:solidFill>
                <a:latin typeface="Arial"/>
              </a:defRPr>
            </a:pPr>
            <a:r>
              <a:t>🏷 Expo SDK 52  |  Next.js 15  |  ADB Bridge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783080"/>
            <a:ext cx="3364992" cy="411480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9432" y="1920240"/>
            <a:ext cx="2999232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00E599"/>
                </a:solidFill>
                <a:latin typeface="Arial"/>
              </a:defRPr>
            </a:pPr>
            <a:r>
              <a:t>TIER 2: ASYNC CORE &amp; AI INTELLIGENCE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331720"/>
            <a:ext cx="2999232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◆ FastAPI Async Core (Python 3.14)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Non-blocking event loop, Pydantic v2 validation, Haversine geodesic routing.</a:t>
            </a:r>
            <a:br/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◆ Dual Gemini 3.6 Flash Failover Pool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Dynamic multi-key rotation on 429 quota exhaustion; strict JSON output.</a:t>
            </a:r>
            <a:br/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◆ Sub-5ms Clinical Heuristic Engine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Zero-crash offline clinical rule engine for acute trauma, cardiac &amp; fever.</a:t>
            </a:r>
            <a:br/>
          </a:p>
        </p:txBody>
      </p:sp>
      <p:sp>
        <p:nvSpPr>
          <p:cNvPr id="13" name="TextBox 12"/>
          <p:cNvSpPr txBox="1"/>
          <p:nvPr/>
        </p:nvSpPr>
        <p:spPr>
          <a:xfrm>
            <a:off x="4599432" y="544068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00E599"/>
                </a:solidFill>
                <a:latin typeface="Arial"/>
              </a:defRPr>
            </a:pPr>
            <a:r>
              <a:t>🏷 FastAPI Async  |  Gemini 3.6 Flash  |  Clinical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783080"/>
            <a:ext cx="3364992" cy="411480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1920240"/>
            <a:ext cx="2999232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FFB300"/>
                </a:solidFill>
                <a:latin typeface="Arial"/>
              </a:defRPr>
            </a:pPr>
            <a:r>
              <a:t>TIER 3: SPATIAL DATA &amp; SCHEME FABRIC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331720"/>
            <a:ext cx="2999232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◆ PostgreSQL &amp; PostGIS Database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Geospatial queries, hospital coordinates, live ICU telemetry schema.</a:t>
            </a:r>
            <a:br/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◆ In-Memory 1,451 Facility Cache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Instant zero-dependency fallback store; guarantees app never crashes on stage.</a:t>
            </a:r>
            <a:br/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◆ PMJAY Ayushman Bharat Tariffs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Government capped procedure pricing, eligibility rules, and cashless verification.</a:t>
            </a:r>
            <a:br/>
          </a:p>
        </p:txBody>
      </p:sp>
      <p:sp>
        <p:nvSpPr>
          <p:cNvPr id="17" name="TextBox 16"/>
          <p:cNvSpPr txBox="1"/>
          <p:nvPr/>
        </p:nvSpPr>
        <p:spPr>
          <a:xfrm>
            <a:off x="8284464" y="544068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FB300"/>
                </a:solidFill>
                <a:latin typeface="Arial"/>
              </a:defRPr>
            </a:pPr>
            <a:r>
              <a:t>🏷 PostGIS Spatial  |  1,451 Node Cache  |  PMJAY Tariffs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035040"/>
            <a:ext cx="10698480" cy="50292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08076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Arial"/>
              </a:defRPr>
            </a:pPr>
            <a:r>
              <a:t>⚡ Zero Single-Point-of-Failure: If external cloud or DB drops, in-memory spatial index and clinical rules take over in &lt;2ms.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474720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PRODUCTION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Modern, High-Concurrency Engineering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A5B9D2"/>
                </a:solidFill>
                <a:latin typeface="Arial"/>
              </a:defRPr>
            </a:pPr>
            <a:r>
              <a:t>Battle-tested technologies selected specifically for low latency, zero downtime, and clinical precision.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468880" cy="411480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2194560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AI &amp; Clinical 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1945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Gemini 3.6 Flash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Google Generative AI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Multi-Key Pool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Automatic 429 Failover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JSON Mode Schema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Pydantic Clinical Output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Clinical Rule Engine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Sub-5ms Fallback Triage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City Context Injection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Dynamic Geo Constraints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2468880" cy="411480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920240"/>
            <a:ext cx="2194560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00E599"/>
                </a:solidFill>
                <a:latin typeface="Arial"/>
              </a:defRPr>
            </a:pPr>
            <a:r>
              <a:t>Backend &amp;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31720"/>
            <a:ext cx="21945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FastAPI (Python 3.14)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High-Throughput ASGI Core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Pydantic v2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Strict Request Validation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Haversine Geodesic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Real-Time Spatial Routing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Uvicorn Server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Async Event-Loop Worker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Health Pings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/api/health Monitoring</a:t>
            </a:r>
            <a:br/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2468880" cy="411480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920240"/>
            <a:ext cx="2194560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60A5FA"/>
                </a:solidFill>
                <a:latin typeface="Arial"/>
              </a:defRPr>
            </a:pPr>
            <a:r>
              <a:t>Cross-Platform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21945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React Native Expo 52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Universal Mobile App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TypeScript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Strict Client Type Safety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Next.js 15 (React 19)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SSR Hospital Dashboard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Tailwind &amp; Tokens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Glassmorphic Design System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AsyncStorage Sync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Connection URL Persistence</a:t>
            </a:r>
            <a:br/>
          </a:p>
        </p:txBody>
      </p:sp>
      <p:sp>
        <p:nvSpPr>
          <p:cNvPr id="15" name="Rounded Rectangle 14"/>
          <p:cNvSpPr/>
          <p:nvPr/>
        </p:nvSpPr>
        <p:spPr>
          <a:xfrm>
            <a:off x="8961120" y="1783080"/>
            <a:ext cx="2468880" cy="411480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280" y="1920240"/>
            <a:ext cx="2194560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FFB300"/>
                </a:solidFill>
                <a:latin typeface="Arial"/>
              </a:defRPr>
            </a:pPr>
            <a:r>
              <a:t>Data &amp; Offline Resilience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331720"/>
            <a:ext cx="21945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PostgreSQL + PostGIS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Geospatial Indexing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In-Memory Store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1,451 Node Demo Cache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PMJAY Tariff DB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Government Price Engine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ADB USB Tunneling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Zero-Latency Demo Bridge</a:t>
            </a:r>
            <a:b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✔  Zero-Crash Guarantee</a:t>
            </a:r>
          </a:p>
          <a:p>
            <a:pPr>
              <a:defRPr sz="819">
                <a:solidFill>
                  <a:srgbClr val="A5B9D2"/>
                </a:solidFill>
                <a:latin typeface="Arial"/>
              </a:defRPr>
            </a:pPr>
            <a:r>
              <a:t>Graceful Degradation Core</a:t>
            </a:r>
            <a:br/>
          </a:p>
        </p:txBody>
      </p:sp>
      <p:sp>
        <p:nvSpPr>
          <p:cNvPr id="18" name="Rounded Rectangle 17"/>
          <p:cNvSpPr/>
          <p:nvPr/>
        </p:nvSpPr>
        <p:spPr>
          <a:xfrm>
            <a:off x="731520" y="6080760"/>
            <a:ext cx="10698480" cy="45720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99"/>
                </a:solidFill>
                <a:latin typeface="Arial"/>
              </a:defRPr>
            </a:pPr>
            <a:r>
              <a:t>★ High Performance: End-to-end hospital lookup executes in under 12ms. Chatbot failover handles up to 100+ RPM.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474720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LIVE PRODUCT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End-to-End Emergency &amp; Cashless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A5B9D2"/>
                </a:solidFill>
                <a:latin typeface="Arial"/>
              </a:defRPr>
            </a:pPr>
            <a:r>
              <a:t>4 integrated core engines delivering life-saving triage and financial transparency.</a:t>
            </a:r>
          </a:p>
        </p:txBody>
      </p:sp>
      <p:pic>
        <p:nvPicPr>
          <p:cNvPr id="6" name="Picture 5" descr="image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3657600" cy="2057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783080"/>
            <a:ext cx="3657600" cy="2057400"/>
          </a:xfrm>
          <a:prstGeom prst="rect">
            <a:avLst/>
          </a:prstGeom>
          <a:noFill/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02148917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977639"/>
            <a:ext cx="2377440" cy="2423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371600" y="3977639"/>
            <a:ext cx="2377440" cy="2423160"/>
          </a:xfrm>
          <a:prstGeom prst="rect">
            <a:avLst/>
          </a:prstGeom>
          <a:noFill/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1783080"/>
            <a:ext cx="6766560" cy="105156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7452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5A5F"/>
                </a:solidFill>
                <a:latin typeface="Arial"/>
              </a:defRPr>
            </a:pPr>
            <a:r>
              <a:t>1. One-Tap Emergency SOS Dispatch</a:t>
            </a:r>
          </a:p>
          <a:p>
            <a:pPr>
              <a:defRPr sz="880">
                <a:solidFill>
                  <a:srgbClr val="FFFFFF"/>
                </a:solidFill>
                <a:latin typeface="Arial"/>
              </a:defRPr>
            </a:pPr>
            <a:r>
              <a:t>Instantly pinpoints nearest NABH trauma-ready hospital within seconds. Evaluates live ICU bed count, ventilator status, and calculated road distance without manual phone calls.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971800"/>
            <a:ext cx="6766560" cy="105156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06324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D2FF"/>
                </a:solidFill>
                <a:latin typeface="Arial"/>
              </a:defRPr>
            </a:pPr>
            <a:r>
              <a:t>2. Context-Aware Clinical AI Chatbot</a:t>
            </a:r>
          </a:p>
          <a:p>
            <a:pPr>
              <a:defRPr sz="880">
                <a:solidFill>
                  <a:srgbClr val="FFFFFF"/>
                </a:solidFill>
                <a:latin typeface="Arial"/>
              </a:defRPr>
            </a:pPr>
            <a:r>
              <a:t>City-synchronized triage (e.g. Jalandhar). Evaluates patient symptoms, calculates emergency severity index, and directs to specialized facilities with dual-key failover.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4160520"/>
            <a:ext cx="6766560" cy="105156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425196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99"/>
                </a:solidFill>
                <a:latin typeface="Arial"/>
              </a:defRPr>
            </a:pPr>
            <a:r>
              <a:t>3. Smart Multi-Hospital Comparison</a:t>
            </a:r>
          </a:p>
          <a:p>
            <a:pPr>
              <a:defRPr sz="880">
                <a:solidFill>
                  <a:srgbClr val="FFFFFF"/>
                </a:solidFill>
                <a:latin typeface="Arial"/>
              </a:defRPr>
            </a:pPr>
            <a:r>
              <a:t>Side-by-side comparison of hospital accreditations (NABH, JCI), surgical capabilities (Robotic, Trauma), ICU bed availability, and real patient outcome metrics.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5349240"/>
            <a:ext cx="6766560" cy="105156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544068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B300"/>
                </a:solidFill>
                <a:latin typeface="Arial"/>
              </a:defRPr>
            </a:pPr>
            <a:r>
              <a:t>4. PMJAY &amp; Cashless Tariff Explorer</a:t>
            </a:r>
          </a:p>
          <a:p>
            <a:pPr>
              <a:defRPr sz="880">
                <a:solidFill>
                  <a:srgbClr val="FFFFFF"/>
                </a:solidFill>
                <a:latin typeface="Arial"/>
              </a:defRPr>
            </a:pPr>
            <a:r>
              <a:t>Full transparency into Ayushman Bharat government health scheme packages, pre-authorization protocols, and 0-deposit admission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474720" cy="3200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ctr">
              <a:defRPr sz="950" b="1">
                <a:solidFill>
                  <a:srgbClr val="00D2FF"/>
                </a:solidFill>
                <a:latin typeface="Arial"/>
              </a:defRPr>
            </a:pPr>
            <a:r>
              <a:t>PROVEN IMPACT &amp; 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Production Performance &amp; Scaling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A5B9D2"/>
                </a:solidFill>
                <a:latin typeface="Arial"/>
              </a:defRPr>
            </a:pPr>
            <a:r>
              <a:t>Delivering immediate clinical value while building towards unified national health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468880" cy="146304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D2FF"/>
                </a:solidFill>
                <a:latin typeface="Arial"/>
              </a:defRPr>
            </a:pPr>
            <a:r>
              <a:t>1,451+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Hospitals Mapped</a:t>
            </a:r>
          </a:p>
          <a:p>
            <a:pPr>
              <a:defRPr sz="800">
                <a:solidFill>
                  <a:srgbClr val="A5B9D2"/>
                </a:solidFill>
                <a:latin typeface="Arial"/>
              </a:defRPr>
            </a:pPr>
            <a:r>
              <a:t>Verified Punjab &amp; North India network with NABH accreditations.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83080"/>
            <a:ext cx="2468880" cy="146304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74519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E599"/>
                </a:solidFill>
                <a:latin typeface="Arial"/>
              </a:defRPr>
            </a:pPr>
            <a:r>
              <a:t>&lt; 5 ms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Rule Engine Latency</a:t>
            </a:r>
          </a:p>
          <a:p>
            <a:pPr>
              <a:defRPr sz="800">
                <a:solidFill>
                  <a:srgbClr val="A5B9D2"/>
                </a:solidFill>
                <a:latin typeface="Arial"/>
              </a:defRPr>
            </a:pPr>
            <a:r>
              <a:t>Deterministic offline triage when external network is unavailable.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2468880" cy="146304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19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B300"/>
                </a:solidFill>
                <a:latin typeface="Arial"/>
              </a:defRPr>
            </a:pPr>
            <a:r>
              <a:t>100%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Zero-Crash Rate</a:t>
            </a:r>
          </a:p>
          <a:p>
            <a:pPr>
              <a:defRPr sz="800">
                <a:solidFill>
                  <a:srgbClr val="A5B9D2"/>
                </a:solidFill>
                <a:latin typeface="Arial"/>
              </a:defRPr>
            </a:pPr>
            <a:r>
              <a:t>Multi-key Gemini rotation + in-memory spatial failover cache.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783080"/>
            <a:ext cx="2468880" cy="146304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874519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5A5F"/>
                </a:solidFill>
                <a:latin typeface="Arial"/>
              </a:defRPr>
            </a:pPr>
            <a:r>
              <a:t>0 ₹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Upfront Cash Deposit</a:t>
            </a:r>
          </a:p>
          <a:p>
            <a:pPr>
              <a:defRPr sz="800">
                <a:solidFill>
                  <a:srgbClr val="A5B9D2"/>
                </a:solidFill>
                <a:latin typeface="Arial"/>
              </a:defRPr>
            </a:pPr>
            <a:r>
              <a:t>Full PMJAY / Ayushman Bharat cashless transparency at intake.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6766560" cy="292608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6400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D2FF"/>
                </a:solidFill>
                <a:latin typeface="Arial"/>
              </a:defRPr>
            </a:pPr>
            <a:r>
              <a:t>STRATEGIC 3-PHASE ROADMAP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◆ Phase 1 (Current Production)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Live Geodesic Triage, Dual-Key Gemini 3.6 Flash, React Native Mobile &amp; Next.js Portal.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◆ Phase 2 (Q3 National Scale)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ABHA (Ayushman Bharat Health Account) ID integration &amp; Hospital EHR/FHIR standard connectors.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◆ Phase 3 (Q4 Autonomous Dispatch)</a:t>
            </a:r>
          </a:p>
          <a:p>
            <a:pPr>
              <a:defRPr sz="850">
                <a:solidFill>
                  <a:srgbClr val="A5B9D2"/>
                </a:solidFill>
                <a:latin typeface="Arial"/>
              </a:defRPr>
            </a:pPr>
            <a:r>
              <a:t>Live Ambulance GPS Telemetry, IoT Bed Sensors &amp; Automated Smart Contract Pre-Auth.</a:t>
            </a:r>
          </a:p>
        </p:txBody>
      </p:sp>
      <p:pic>
        <p:nvPicPr>
          <p:cNvPr id="16" name="Picture 15" descr="image2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474720"/>
            <a:ext cx="3657600" cy="29260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772400" y="3474720"/>
            <a:ext cx="3657600" cy="2926080"/>
          </a:xfrm>
          <a:prstGeom prst="rect">
            <a:avLst/>
          </a:prstGeom>
          <a:noFill/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